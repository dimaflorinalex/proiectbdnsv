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3054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304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1878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765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0018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87312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974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829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6499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3090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584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3305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5738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67102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7723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340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8F53D-2350-45EE-96DC-BA920F38B297}" type="datetimeFigureOut">
              <a:rPr lang="ro-RO" smtClean="0"/>
              <a:t>22.01.2026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63D5C57-1FD5-49FE-8315-85ADD9B7AA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1952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langchain.com/" TargetMode="External"/><Relationship Id="rId2" Type="http://schemas.openxmlformats.org/officeDocument/2006/relationships/hyperlink" Target="https://github.com/features/copilo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dimaflorinalex/ProiectBDNSV" TargetMode="External"/><Relationship Id="rId5" Type="http://schemas.openxmlformats.org/officeDocument/2006/relationships/hyperlink" Target="https://www.sqlite.org/" TargetMode="External"/><Relationship Id="rId4" Type="http://schemas.openxmlformats.org/officeDocument/2006/relationships/hyperlink" Target="https://ollama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0277-ED47-F9C6-27D2-DBBEF2FA9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Text-To-SQL App</a:t>
            </a:r>
            <a:br>
              <a:rPr lang="en-US" dirty="0"/>
            </a:br>
            <a:r>
              <a:rPr lang="en-US" dirty="0"/>
              <a:t>with feedback loop</a:t>
            </a:r>
            <a:endParaRPr lang="ro-R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9CE6F-90DC-06A2-1795-86B87B340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Natural Language to SQL Query Generation using </a:t>
            </a:r>
            <a:r>
              <a:rPr lang="en-US" dirty="0" err="1"/>
              <a:t>LangChain</a:t>
            </a:r>
            <a:r>
              <a:rPr lang="en-US" dirty="0"/>
              <a:t> &amp; </a:t>
            </a:r>
            <a:r>
              <a:rPr lang="en-US" dirty="0" err="1"/>
              <a:t>Ollama</a:t>
            </a:r>
            <a:endParaRPr lang="en-US" dirty="0"/>
          </a:p>
          <a:p>
            <a:r>
              <a:rPr lang="en-US" dirty="0" err="1"/>
              <a:t>BDNSV</a:t>
            </a:r>
            <a:r>
              <a:rPr lang="en-US" dirty="0"/>
              <a:t> - Dima Florin-Alexandru (462)</a:t>
            </a:r>
          </a:p>
          <a:p>
            <a:r>
              <a:rPr lang="en-US" dirty="0"/>
              <a:t>FMI </a:t>
            </a:r>
            <a:r>
              <a:rPr lang="en-US" dirty="0" err="1"/>
              <a:t>Unibuc</a:t>
            </a:r>
            <a:r>
              <a:rPr lang="en-US" dirty="0"/>
              <a:t> - 2026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9327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76F0-9325-191D-831D-506A1ED0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Project Overview</a:t>
            </a:r>
            <a:br>
              <a:rPr lang="ro-RO" b="1" dirty="0"/>
            </a:br>
            <a:r>
              <a:rPr lang="ro-RO" dirty="0"/>
              <a:t>What </a:t>
            </a:r>
            <a:r>
              <a:rPr lang="en-US" dirty="0"/>
              <a:t>is project’s purpose</a:t>
            </a:r>
            <a:r>
              <a:rPr lang="ro-RO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067FD-E7EE-85AD-D643-7A55AC24B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/>
              <a:t>Goal:</a:t>
            </a:r>
            <a:r>
              <a:rPr lang="ro-RO" dirty="0"/>
              <a:t> Convert natural language questions into SQL queries</a:t>
            </a:r>
            <a:endParaRPr lang="en-US" dirty="0"/>
          </a:p>
          <a:p>
            <a:r>
              <a:rPr lang="en-US" b="1" dirty="0"/>
              <a:t>Multi-step chain:</a:t>
            </a:r>
          </a:p>
          <a:p>
            <a:pPr lvl="1"/>
            <a:r>
              <a:rPr lang="en-US" dirty="0"/>
              <a:t>Accept NLP question</a:t>
            </a:r>
          </a:p>
          <a:p>
            <a:pPr lvl="1"/>
            <a:r>
              <a:rPr lang="en-US" dirty="0"/>
              <a:t>Generate SQL query using feedback loop for learning from user interactions</a:t>
            </a:r>
          </a:p>
          <a:p>
            <a:pPr lvl="1"/>
            <a:r>
              <a:rPr lang="en-US" dirty="0"/>
              <a:t>Execute query</a:t>
            </a:r>
          </a:p>
          <a:p>
            <a:pPr lvl="1"/>
            <a:r>
              <a:rPr lang="en-US" dirty="0"/>
              <a:t>Summarize results in natural language</a:t>
            </a:r>
          </a:p>
          <a:p>
            <a:r>
              <a:rPr lang="ro-RO" b="1" dirty="0"/>
              <a:t>Tech Stack:</a:t>
            </a:r>
            <a:r>
              <a:rPr lang="ro-RO" dirty="0"/>
              <a:t> LangChain, Ollama (Local LLMs), SQLite, Gradi</a:t>
            </a:r>
            <a:r>
              <a:rPr lang="en-US" dirty="0"/>
              <a:t>o (and more)	</a:t>
            </a:r>
          </a:p>
        </p:txBody>
      </p:sp>
    </p:spTree>
    <p:extLst>
      <p:ext uri="{BB962C8B-B14F-4D97-AF65-F5344CB8AC3E}">
        <p14:creationId xmlns:p14="http://schemas.microsoft.com/office/powerpoint/2010/main" val="317393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1333-AC2B-8774-64DF-C3FEC92D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Core</a:t>
            </a:r>
            <a:r>
              <a:rPr lang="en-US" b="1" dirty="0"/>
              <a:t> F</a:t>
            </a:r>
            <a:r>
              <a:rPr lang="ro-RO" b="1" dirty="0"/>
              <a:t>eatures</a:t>
            </a:r>
            <a:br>
              <a:rPr lang="ro-RO" b="1" dirty="0"/>
            </a:br>
            <a:r>
              <a:rPr lang="ro-RO" dirty="0"/>
              <a:t>Meeting </a:t>
            </a:r>
            <a:r>
              <a:rPr lang="en-US" dirty="0"/>
              <a:t>project r</a:t>
            </a:r>
            <a:r>
              <a:rPr lang="ro-RO" dirty="0"/>
              <a:t>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037DA-7880-ED8D-D4D7-20316DDBF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9733"/>
            <a:ext cx="4114122" cy="3880773"/>
          </a:xfrm>
        </p:spPr>
        <p:txBody>
          <a:bodyPr>
            <a:normAutofit fontScale="92500" lnSpcReduction="10000"/>
          </a:bodyPr>
          <a:lstStyle/>
          <a:p>
            <a:r>
              <a:rPr lang="ro-RO" b="1" dirty="0"/>
              <a:t>1. Ambiguous Input Handling:</a:t>
            </a:r>
            <a:endParaRPr lang="ro-RO" dirty="0"/>
          </a:p>
          <a:p>
            <a:pPr lvl="1"/>
            <a:r>
              <a:rPr lang="ro-RO" dirty="0"/>
              <a:t>Schema-aware prompt engineering</a:t>
            </a:r>
          </a:p>
          <a:p>
            <a:pPr lvl="1"/>
            <a:r>
              <a:rPr lang="ro-RO" dirty="0"/>
              <a:t>Database context inclusion</a:t>
            </a:r>
          </a:p>
          <a:p>
            <a:pPr lvl="1"/>
            <a:r>
              <a:rPr lang="ro-RO" dirty="0"/>
              <a:t>Clarification requests for vague questions</a:t>
            </a:r>
            <a:endParaRPr lang="en-US" dirty="0"/>
          </a:p>
          <a:p>
            <a:pPr marL="457200" lvl="1" indent="0">
              <a:buNone/>
            </a:pPr>
            <a:endParaRPr lang="ro-RO" dirty="0"/>
          </a:p>
          <a:p>
            <a:r>
              <a:rPr lang="ro-RO" b="1" dirty="0"/>
              <a:t>3. Error Handling &amp; Feedback:</a:t>
            </a:r>
            <a:endParaRPr lang="ro-RO" dirty="0"/>
          </a:p>
          <a:p>
            <a:pPr lvl="1"/>
            <a:r>
              <a:rPr lang="ro-RO" dirty="0"/>
              <a:t>SQL validation and auto-correction</a:t>
            </a:r>
          </a:p>
          <a:p>
            <a:pPr lvl="1"/>
            <a:r>
              <a:rPr lang="ro-RO" dirty="0"/>
              <a:t>User feedback loop (1-5 rating + corrections)</a:t>
            </a:r>
          </a:p>
          <a:p>
            <a:pPr lvl="1"/>
            <a:r>
              <a:rPr lang="ro-RO" dirty="0"/>
              <a:t>Few-shot and chain-of-thought prompting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4D86466-2184-1504-F0C2-56C36ED748A4}"/>
              </a:ext>
            </a:extLst>
          </p:cNvPr>
          <p:cNvSpPr txBox="1">
            <a:spLocks/>
          </p:cNvSpPr>
          <p:nvPr/>
        </p:nvSpPr>
        <p:spPr>
          <a:xfrm>
            <a:off x="4942455" y="2169733"/>
            <a:ext cx="433154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b="1" dirty="0"/>
              <a:t>2. LLM Comparison:</a:t>
            </a:r>
            <a:endParaRPr lang="ro-RO" dirty="0"/>
          </a:p>
          <a:p>
            <a:pPr lvl="1"/>
            <a:r>
              <a:rPr lang="ro-RO" dirty="0"/>
              <a:t>Llama3, Mistral, CodeLlama support</a:t>
            </a:r>
          </a:p>
          <a:p>
            <a:pPr lvl="1"/>
            <a:r>
              <a:rPr lang="ro-RO" dirty="0"/>
              <a:t>Side-by-side accuracy evaluation</a:t>
            </a:r>
          </a:p>
          <a:p>
            <a:pPr lvl="1"/>
            <a:r>
              <a:rPr lang="ro-RO" dirty="0"/>
              <a:t>Syntax and logic comparison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ro-RO" b="1" dirty="0"/>
              <a:t>4. Benchmark Testing:</a:t>
            </a:r>
            <a:endParaRPr lang="ro-RO" dirty="0"/>
          </a:p>
          <a:p>
            <a:pPr lvl="1"/>
            <a:r>
              <a:rPr lang="ro-RO" dirty="0"/>
              <a:t>Spider benchmark:</a:t>
            </a:r>
            <a:r>
              <a:rPr lang="en-US" dirty="0"/>
              <a:t> measure </a:t>
            </a:r>
            <a:r>
              <a:rPr lang="ro-RO" dirty="0"/>
              <a:t>exact match, execution accuracy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634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8CDEA5-2E19-E6EF-EB87-86C496025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5468" y="0"/>
            <a:ext cx="301231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859A6D-9F06-D621-FA56-38C026B0C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830" y="2012696"/>
            <a:ext cx="5171778" cy="4383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51AE9E-32D8-824C-6149-F1AF40E8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System Architecture</a:t>
            </a:r>
            <a:br>
              <a:rPr lang="ro-RO" b="1" dirty="0"/>
            </a:br>
            <a:r>
              <a:rPr lang="ro-RO" dirty="0"/>
              <a:t>Multi-</a:t>
            </a:r>
            <a:r>
              <a:rPr lang="en-US" dirty="0"/>
              <a:t>s</a:t>
            </a:r>
            <a:r>
              <a:rPr lang="ro-RO" dirty="0"/>
              <a:t>tep </a:t>
            </a:r>
            <a:r>
              <a:rPr lang="en-US" dirty="0"/>
              <a:t>pipeline &amp; Data flow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4306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EFFF7-CC6D-33EE-F729-C969F099D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3601E-45A0-B3FA-5269-AD18394E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System Architecture</a:t>
            </a:r>
            <a:br>
              <a:rPr lang="ro-RO" b="1" dirty="0"/>
            </a:br>
            <a:r>
              <a:rPr lang="en-US" dirty="0"/>
              <a:t>Correction &amp; Learning activation</a:t>
            </a:r>
            <a:endParaRPr lang="ro-R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ABE35E-E9DB-E611-3A66-B9BB0CDDB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65" y="185166"/>
            <a:ext cx="1367930" cy="64876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CD4010-7160-52C4-9D24-588B7A239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893" y="1789028"/>
            <a:ext cx="4735653" cy="477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0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D1E5-DE0A-B9BB-4D74-972B8CEA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Feedback loop for self-improving</a:t>
            </a:r>
            <a:br>
              <a:rPr lang="en-US" b="1" dirty="0"/>
            </a:br>
            <a:r>
              <a:rPr lang="en-US" dirty="0"/>
              <a:t>How does it work?</a:t>
            </a:r>
            <a:br>
              <a:rPr lang="en-US" dirty="0"/>
            </a:b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90976-793B-0021-7C9E-7AA4439BE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27657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Step 1: Collect Feedback</a:t>
            </a:r>
            <a:endParaRPr lang="en-US" dirty="0"/>
          </a:p>
          <a:p>
            <a:pPr lvl="1"/>
            <a:r>
              <a:rPr lang="en-US" dirty="0"/>
              <a:t>User rates query (1-5 stars)</a:t>
            </a:r>
          </a:p>
          <a:p>
            <a:pPr lvl="1"/>
            <a:r>
              <a:rPr lang="en-US" dirty="0"/>
              <a:t>Optional: provide corrected SQL</a:t>
            </a:r>
          </a:p>
          <a:p>
            <a:r>
              <a:rPr lang="en-US" b="1" dirty="0"/>
              <a:t>Step 2: Learn</a:t>
            </a:r>
            <a:endParaRPr lang="en-US" dirty="0"/>
          </a:p>
          <a:p>
            <a:pPr lvl="1"/>
            <a:r>
              <a:rPr lang="en-US" dirty="0"/>
              <a:t>Extract positive examples (rating ≥4)</a:t>
            </a:r>
          </a:p>
          <a:p>
            <a:pPr lvl="1"/>
            <a:r>
              <a:rPr lang="en-US" dirty="0"/>
              <a:t>Store user corrections</a:t>
            </a:r>
          </a:p>
          <a:p>
            <a:pPr lvl="1"/>
            <a:r>
              <a:rPr lang="en-US" dirty="0"/>
              <a:t>Find similar past queries</a:t>
            </a:r>
          </a:p>
          <a:p>
            <a:r>
              <a:rPr lang="en-US" b="1" dirty="0"/>
              <a:t>Step 3: Improve</a:t>
            </a:r>
            <a:endParaRPr lang="en-US" dirty="0"/>
          </a:p>
          <a:p>
            <a:pPr lvl="1"/>
            <a:r>
              <a:rPr lang="en-US" dirty="0"/>
              <a:t>Enhance prompts with learned examples</a:t>
            </a:r>
          </a:p>
          <a:p>
            <a:pPr lvl="1"/>
            <a:r>
              <a:rPr lang="en-US" dirty="0"/>
              <a:t>Add correction guidance</a:t>
            </a:r>
          </a:p>
          <a:p>
            <a:pPr lvl="1"/>
            <a:r>
              <a:rPr lang="en-US" dirty="0"/>
              <a:t>Better results → More positive feedback</a:t>
            </a:r>
          </a:p>
          <a:p>
            <a:r>
              <a:rPr lang="en-US" b="1" dirty="0"/>
              <a:t>Result:</a:t>
            </a:r>
            <a:r>
              <a:rPr lang="en-US" dirty="0"/>
              <a:t> System improves automatically with usage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50953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B1376-0D20-E657-A41A-877FAD91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CDAE-A755-D436-7BB4-882C1F8D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LLM Comparison</a:t>
            </a:r>
            <a:br>
              <a:rPr lang="en-US" b="1" dirty="0"/>
            </a:br>
            <a:r>
              <a:rPr lang="en-US" dirty="0"/>
              <a:t>Multi-Model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9313-387B-954D-8894-8D25F3AB0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39696"/>
            <a:ext cx="8596668" cy="4067275"/>
          </a:xfrm>
        </p:spPr>
        <p:txBody>
          <a:bodyPr>
            <a:normAutofit/>
          </a:bodyPr>
          <a:lstStyle/>
          <a:p>
            <a:r>
              <a:rPr lang="ro-RO" b="1" dirty="0"/>
              <a:t>Models Tested:</a:t>
            </a:r>
            <a:r>
              <a:rPr lang="en-US" b="1" dirty="0"/>
              <a:t> </a:t>
            </a:r>
            <a:r>
              <a:rPr lang="ro-RO" dirty="0"/>
              <a:t>Llama3:latest</a:t>
            </a:r>
            <a:r>
              <a:rPr lang="en-US" dirty="0"/>
              <a:t>, </a:t>
            </a:r>
            <a:r>
              <a:rPr lang="ro-RO" dirty="0"/>
              <a:t>Mistral:7b</a:t>
            </a:r>
            <a:r>
              <a:rPr lang="en-US" dirty="0"/>
              <a:t>, </a:t>
            </a:r>
            <a:r>
              <a:rPr lang="ro-RO" dirty="0"/>
              <a:t>CodeLlama:latest</a:t>
            </a:r>
          </a:p>
          <a:p>
            <a:r>
              <a:rPr lang="ro-RO" b="1" dirty="0"/>
              <a:t>Metrics:</a:t>
            </a:r>
            <a:endParaRPr lang="ro-RO" dirty="0"/>
          </a:p>
          <a:p>
            <a:pPr lvl="1"/>
            <a:r>
              <a:rPr lang="ro-RO" dirty="0"/>
              <a:t>Query accuracy</a:t>
            </a:r>
          </a:p>
          <a:p>
            <a:pPr lvl="1"/>
            <a:r>
              <a:rPr lang="ro-RO" dirty="0"/>
              <a:t>Syntax correctness</a:t>
            </a:r>
          </a:p>
          <a:p>
            <a:pPr lvl="1"/>
            <a:r>
              <a:rPr lang="ro-RO" dirty="0"/>
              <a:t>Logical structure</a:t>
            </a:r>
          </a:p>
          <a:p>
            <a:pPr lvl="1"/>
            <a:r>
              <a:rPr lang="ro-RO" dirty="0"/>
              <a:t>Execution success rate</a:t>
            </a:r>
          </a:p>
          <a:p>
            <a:pPr lvl="1"/>
            <a:r>
              <a:rPr lang="ro-RO" dirty="0"/>
              <a:t>Response time</a:t>
            </a:r>
          </a:p>
          <a:p>
            <a:r>
              <a:rPr lang="ro-RO" b="1" dirty="0"/>
              <a:t>Finding:</a:t>
            </a:r>
            <a:endParaRPr lang="en-US" b="1" dirty="0"/>
          </a:p>
          <a:p>
            <a:pPr lvl="1"/>
            <a:r>
              <a:rPr lang="ro-RO" dirty="0"/>
              <a:t>CodeLlama performs best for complex queries</a:t>
            </a:r>
            <a:endParaRPr lang="en-US" dirty="0"/>
          </a:p>
          <a:p>
            <a:pPr lvl="1"/>
            <a:r>
              <a:rPr lang="ro-RO" dirty="0"/>
              <a:t>Llama3 </a:t>
            </a:r>
            <a:r>
              <a:rPr lang="en-US" dirty="0"/>
              <a:t>performs best </a:t>
            </a:r>
            <a:r>
              <a:rPr lang="ro-RO" dirty="0"/>
              <a:t>for natural language understanding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1829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93D6-596C-6EEB-4EA7-F2F7181C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4007-339C-313C-D05B-2DB0ECD0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b="1" dirty="0"/>
              <a:t>Benchmark </a:t>
            </a:r>
            <a:r>
              <a:rPr lang="en-US" b="1" dirty="0"/>
              <a:t>r</a:t>
            </a:r>
            <a:r>
              <a:rPr lang="ro-RO" b="1" dirty="0"/>
              <a:t>esults</a:t>
            </a:r>
            <a:br>
              <a:rPr lang="en-US" b="1" dirty="0"/>
            </a:br>
            <a:r>
              <a:rPr lang="ro-RO" dirty="0"/>
              <a:t>Spider </a:t>
            </a:r>
            <a:r>
              <a:rPr lang="en-US" dirty="0"/>
              <a:t>b</a:t>
            </a:r>
            <a:r>
              <a:rPr lang="ro-RO" dirty="0"/>
              <a:t>enchmark </a:t>
            </a:r>
            <a:r>
              <a:rPr lang="en-US" dirty="0"/>
              <a:t>p</a:t>
            </a:r>
            <a:r>
              <a:rPr lang="ro-RO" dirty="0"/>
              <a:t>erformance</a:t>
            </a:r>
            <a:endParaRPr lang="ro-R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CAF6-E228-CC36-933D-57971914F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03704"/>
            <a:ext cx="8596668" cy="4003267"/>
          </a:xfrm>
        </p:spPr>
        <p:txBody>
          <a:bodyPr>
            <a:normAutofit/>
          </a:bodyPr>
          <a:lstStyle/>
          <a:p>
            <a:r>
              <a:rPr lang="ro-RO" b="1" dirty="0"/>
              <a:t>Dataset:</a:t>
            </a:r>
            <a:r>
              <a:rPr lang="ro-RO" dirty="0"/>
              <a:t> Spider</a:t>
            </a:r>
            <a:endParaRPr lang="en-US" dirty="0"/>
          </a:p>
          <a:p>
            <a:r>
              <a:rPr lang="ro-RO" b="1" dirty="0"/>
              <a:t>Initial </a:t>
            </a:r>
            <a:r>
              <a:rPr lang="en-US" b="1" dirty="0"/>
              <a:t>r</a:t>
            </a:r>
            <a:r>
              <a:rPr lang="ro-RO" b="1" dirty="0"/>
              <a:t>esults (</a:t>
            </a:r>
            <a:r>
              <a:rPr lang="en-US" b="1" dirty="0"/>
              <a:t>no l</a:t>
            </a:r>
            <a:r>
              <a:rPr lang="ro-RO" b="1" dirty="0"/>
              <a:t>earning):</a:t>
            </a:r>
            <a:r>
              <a:rPr lang="en-US" b="1" dirty="0"/>
              <a:t> </a:t>
            </a:r>
            <a:r>
              <a:rPr lang="ro-RO" dirty="0"/>
              <a:t>Exact </a:t>
            </a:r>
            <a:r>
              <a:rPr lang="en-US" dirty="0"/>
              <a:t>m</a:t>
            </a:r>
            <a:r>
              <a:rPr lang="ro-RO" dirty="0"/>
              <a:t>atch: </a:t>
            </a:r>
            <a:r>
              <a:rPr lang="en-US" dirty="0"/>
              <a:t>2</a:t>
            </a:r>
            <a:r>
              <a:rPr lang="ro-RO" dirty="0"/>
              <a:t>0%</a:t>
            </a:r>
            <a:r>
              <a:rPr lang="en-US" dirty="0"/>
              <a:t>, </a:t>
            </a:r>
            <a:r>
              <a:rPr lang="ro-RO" dirty="0"/>
              <a:t>Execution </a:t>
            </a:r>
            <a:r>
              <a:rPr lang="en-US" dirty="0"/>
              <a:t>a</a:t>
            </a:r>
            <a:r>
              <a:rPr lang="ro-RO" dirty="0"/>
              <a:t>ccuracy: </a:t>
            </a:r>
            <a:r>
              <a:rPr lang="en-US" dirty="0"/>
              <a:t>35</a:t>
            </a:r>
            <a:r>
              <a:rPr lang="ro-RO" dirty="0"/>
              <a:t>%</a:t>
            </a:r>
          </a:p>
          <a:p>
            <a:r>
              <a:rPr lang="ro-RO" b="1" dirty="0"/>
              <a:t>After </a:t>
            </a:r>
            <a:r>
              <a:rPr lang="en-US" b="1" dirty="0"/>
              <a:t>n</a:t>
            </a:r>
            <a:r>
              <a:rPr lang="ro-RO" b="1" dirty="0"/>
              <a:t>ormalization &amp; Learning:</a:t>
            </a:r>
            <a:r>
              <a:rPr lang="en-US" b="1" dirty="0"/>
              <a:t> </a:t>
            </a:r>
            <a:r>
              <a:rPr lang="ro-RO" dirty="0"/>
              <a:t>Exact </a:t>
            </a:r>
            <a:r>
              <a:rPr lang="en-US" dirty="0"/>
              <a:t>m</a:t>
            </a:r>
            <a:r>
              <a:rPr lang="ro-RO" dirty="0"/>
              <a:t>atch: 7</a:t>
            </a:r>
            <a:r>
              <a:rPr lang="en-US" dirty="0"/>
              <a:t>5</a:t>
            </a:r>
            <a:r>
              <a:rPr lang="ro-RO" dirty="0"/>
              <a:t>%</a:t>
            </a:r>
            <a:r>
              <a:rPr lang="en-US" dirty="0"/>
              <a:t>, </a:t>
            </a:r>
            <a:r>
              <a:rPr lang="ro-RO" dirty="0"/>
              <a:t>Execution </a:t>
            </a:r>
            <a:r>
              <a:rPr lang="en-US" dirty="0"/>
              <a:t>a</a:t>
            </a:r>
            <a:r>
              <a:rPr lang="ro-RO" dirty="0"/>
              <a:t>ccuracy: </a:t>
            </a:r>
            <a:r>
              <a:rPr lang="en-US" dirty="0"/>
              <a:t>75</a:t>
            </a:r>
            <a:r>
              <a:rPr lang="ro-RO" dirty="0"/>
              <a:t>%</a:t>
            </a:r>
          </a:p>
          <a:p>
            <a:r>
              <a:rPr lang="ro-RO" b="1" dirty="0"/>
              <a:t>Key Improvements:</a:t>
            </a:r>
            <a:endParaRPr lang="ro-RO" dirty="0"/>
          </a:p>
          <a:p>
            <a:pPr lvl="1"/>
            <a:r>
              <a:rPr lang="ro-RO" dirty="0"/>
              <a:t>SQL normalization (aliases, whitespace, case)</a:t>
            </a:r>
          </a:p>
          <a:p>
            <a:pPr lvl="1"/>
            <a:r>
              <a:rPr lang="ro-RO" dirty="0"/>
              <a:t>Few-shot learning from positive examples</a:t>
            </a:r>
          </a:p>
          <a:p>
            <a:pPr lvl="1"/>
            <a:r>
              <a:rPr lang="ro-RO" dirty="0"/>
              <a:t>Error correction from user feedback</a:t>
            </a:r>
          </a:p>
          <a:p>
            <a:r>
              <a:rPr lang="ro-RO" b="1" dirty="0"/>
              <a:t>Test </a:t>
            </a:r>
            <a:r>
              <a:rPr lang="en-US" b="1" dirty="0"/>
              <a:t>s</a:t>
            </a:r>
            <a:r>
              <a:rPr lang="ro-RO" b="1" dirty="0"/>
              <a:t>et:</a:t>
            </a:r>
            <a:r>
              <a:rPr lang="ro-RO" dirty="0"/>
              <a:t> </a:t>
            </a:r>
            <a:r>
              <a:rPr lang="en-US" dirty="0"/>
              <a:t>5-20 random</a:t>
            </a:r>
            <a:r>
              <a:rPr lang="ro-RO" dirty="0"/>
              <a:t> queries across multiple databases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47544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0348-C35D-0F01-3DDB-357A9848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0FCD-C46E-B7EA-832D-647CDCE2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b="1" dirty="0"/>
              <a:t>User Interface</a:t>
            </a:r>
            <a:br>
              <a:rPr lang="en-US" b="1" dirty="0"/>
            </a:br>
            <a:r>
              <a:rPr lang="ro-RO" dirty="0"/>
              <a:t>Du</a:t>
            </a:r>
            <a:r>
              <a:rPr lang="en-US" dirty="0"/>
              <a:t>al interface: CLI &amp; Web</a:t>
            </a:r>
            <a:endParaRPr lang="ro-R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5F58A-085A-297B-B0E3-338A8517B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03704"/>
            <a:ext cx="8596668" cy="4003267"/>
          </a:xfrm>
        </p:spPr>
        <p:txBody>
          <a:bodyPr>
            <a:normAutofit lnSpcReduction="10000"/>
          </a:bodyPr>
          <a:lstStyle/>
          <a:p>
            <a:r>
              <a:rPr lang="ro-RO" b="1" dirty="0"/>
              <a:t>1. CLI Interface:</a:t>
            </a:r>
            <a:endParaRPr lang="ro-RO" dirty="0"/>
          </a:p>
          <a:p>
            <a:pPr lvl="1"/>
            <a:r>
              <a:rPr lang="ro-RO" dirty="0"/>
              <a:t>Interactive command-line</a:t>
            </a:r>
          </a:p>
          <a:p>
            <a:pPr lvl="1"/>
            <a:r>
              <a:rPr lang="ro-RO" dirty="0"/>
              <a:t>Commands: stats, learning, compare, quit</a:t>
            </a:r>
          </a:p>
          <a:p>
            <a:pPr lvl="1"/>
            <a:r>
              <a:rPr lang="ro-RO" dirty="0"/>
              <a:t>Real-time feedback collection</a:t>
            </a:r>
          </a:p>
          <a:p>
            <a:pPr lvl="1"/>
            <a:r>
              <a:rPr lang="ro-RO" dirty="0"/>
              <a:t>Correction submission for failed queries</a:t>
            </a:r>
          </a:p>
          <a:p>
            <a:r>
              <a:rPr lang="ro-RO" b="1" dirty="0"/>
              <a:t>2. Web Interface (Gradio):</a:t>
            </a:r>
            <a:endParaRPr lang="ro-RO" dirty="0"/>
          </a:p>
          <a:p>
            <a:pPr lvl="1"/>
            <a:r>
              <a:rPr lang="ro-RO" dirty="0"/>
              <a:t>User-friendly visual interface</a:t>
            </a:r>
          </a:p>
          <a:p>
            <a:pPr lvl="1"/>
            <a:r>
              <a:rPr lang="ro-RO" dirty="0"/>
              <a:t>Tabs: Query Generation, Model Comparison, Learning System</a:t>
            </a:r>
          </a:p>
          <a:p>
            <a:pPr lvl="1"/>
            <a:r>
              <a:rPr lang="en-US" dirty="0"/>
              <a:t>Real-time feedback collection</a:t>
            </a:r>
          </a:p>
          <a:p>
            <a:pPr lvl="1"/>
            <a:r>
              <a:rPr lang="en-US" dirty="0"/>
              <a:t>Correction submission for </a:t>
            </a:r>
            <a:r>
              <a:rPr lang="en-US"/>
              <a:t>failed queries</a:t>
            </a:r>
            <a:endParaRPr lang="ro-RO" dirty="0"/>
          </a:p>
          <a:p>
            <a:r>
              <a:rPr lang="ro-RO" b="1" dirty="0"/>
              <a:t>Accessibility:</a:t>
            </a:r>
            <a:r>
              <a:rPr lang="ro-RO" dirty="0"/>
              <a:t> Both interfaces suitable for different user preferences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8740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ADBB-F1B7-04F2-0DF1-97AE7060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28377-48F3-D886-DEA3-F6EF6F13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b="1" dirty="0"/>
              <a:t>Conclusio</a:t>
            </a:r>
            <a:r>
              <a:rPr lang="en-US" b="1" dirty="0"/>
              <a:t>n</a:t>
            </a:r>
            <a:br>
              <a:rPr lang="en-US" b="1" dirty="0"/>
            </a:br>
            <a:r>
              <a:rPr lang="ro-RO" dirty="0"/>
              <a:t>Summary &amp; </a:t>
            </a:r>
            <a:r>
              <a:rPr lang="en-US" dirty="0"/>
              <a:t>N</a:t>
            </a:r>
            <a:r>
              <a:rPr lang="ro-RO" dirty="0"/>
              <a:t>ext </a:t>
            </a:r>
            <a:r>
              <a:rPr lang="en-US" dirty="0"/>
              <a:t>s</a:t>
            </a:r>
            <a:r>
              <a:rPr lang="ro-RO" dirty="0"/>
              <a:t>teps</a:t>
            </a:r>
            <a:endParaRPr lang="ro-R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05E0A-0B41-A2A1-A8F1-D0CBCA09C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03704"/>
            <a:ext cx="4297002" cy="3154680"/>
          </a:xfrm>
        </p:spPr>
        <p:txBody>
          <a:bodyPr>
            <a:normAutofit lnSpcReduction="10000"/>
          </a:bodyPr>
          <a:lstStyle/>
          <a:p>
            <a:r>
              <a:rPr lang="ro-RO" b="1" dirty="0"/>
              <a:t>Achievements:</a:t>
            </a:r>
            <a:endParaRPr lang="en-US" dirty="0"/>
          </a:p>
          <a:p>
            <a:pPr lvl="1"/>
            <a:r>
              <a:rPr lang="ro-RO" dirty="0"/>
              <a:t>Text-to-SQL pipeline </a:t>
            </a:r>
            <a:r>
              <a:rPr lang="en-US" dirty="0"/>
              <a:t>meeting the requirements</a:t>
            </a:r>
          </a:p>
          <a:p>
            <a:pPr lvl="1"/>
            <a:r>
              <a:rPr lang="en-US" dirty="0"/>
              <a:t>Feedback </a:t>
            </a:r>
            <a:r>
              <a:rPr lang="ro-RO" dirty="0"/>
              <a:t>loop with automatic learning</a:t>
            </a:r>
            <a:endParaRPr lang="en-US" dirty="0"/>
          </a:p>
          <a:p>
            <a:pPr lvl="1"/>
            <a:r>
              <a:rPr lang="en-US" dirty="0"/>
              <a:t>Fair results achieved on Spider benchmark</a:t>
            </a:r>
          </a:p>
          <a:p>
            <a:pPr lvl="1"/>
            <a:r>
              <a:rPr lang="ro-RO" dirty="0"/>
              <a:t>Multi-LLM comparison framework</a:t>
            </a:r>
            <a:endParaRPr lang="en-US" dirty="0"/>
          </a:p>
          <a:p>
            <a:pPr lvl="1"/>
            <a:r>
              <a:rPr lang="ro-RO" dirty="0"/>
              <a:t>Dual interface (CLI + Web)</a:t>
            </a:r>
            <a:endParaRPr lang="en-US" dirty="0"/>
          </a:p>
          <a:p>
            <a:pPr lvl="1"/>
            <a:r>
              <a:rPr lang="en-US" dirty="0"/>
              <a:t>E</a:t>
            </a:r>
            <a:r>
              <a:rPr lang="ro-RO" dirty="0"/>
              <a:t>rror handling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E2F914-CE56-33AB-66D2-EDB26F102E65}"/>
              </a:ext>
            </a:extLst>
          </p:cNvPr>
          <p:cNvSpPr txBox="1">
            <a:spLocks/>
          </p:cNvSpPr>
          <p:nvPr/>
        </p:nvSpPr>
        <p:spPr>
          <a:xfrm>
            <a:off x="4880526" y="2203703"/>
            <a:ext cx="5095578" cy="2723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Possible future e</a:t>
            </a:r>
            <a:r>
              <a:rPr lang="ro-RO" b="1" dirty="0"/>
              <a:t>nhancements:</a:t>
            </a:r>
            <a:endParaRPr lang="ro-RO" dirty="0"/>
          </a:p>
          <a:p>
            <a:pPr lvl="1"/>
            <a:r>
              <a:rPr lang="ro-RO" dirty="0"/>
              <a:t>Support for more complex SQL (subqueries, CTEs)</a:t>
            </a:r>
          </a:p>
          <a:p>
            <a:pPr lvl="1"/>
            <a:r>
              <a:rPr lang="ro-RO" dirty="0"/>
              <a:t>Multi-database support (PostgreSQL, MySQL)</a:t>
            </a:r>
          </a:p>
          <a:p>
            <a:pPr lvl="1"/>
            <a:r>
              <a:rPr lang="ro-RO" dirty="0"/>
              <a:t>Advanced learning algorithms</a:t>
            </a:r>
            <a:r>
              <a:rPr lang="en-US" dirty="0"/>
              <a:t>/</a:t>
            </a:r>
            <a:r>
              <a:rPr lang="ro-RO" dirty="0"/>
              <a:t>fine-tuning</a:t>
            </a:r>
          </a:p>
          <a:p>
            <a:pPr lvl="1"/>
            <a:r>
              <a:rPr lang="ro-RO" dirty="0"/>
              <a:t>Query optimization suggestions</a:t>
            </a:r>
          </a:p>
          <a:p>
            <a:pPr lvl="1"/>
            <a:r>
              <a:rPr lang="ro-RO" dirty="0"/>
              <a:t>More benchmarks (BIRD, WikiSQL)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FD88FA-F0B2-8C81-3B46-1909CD731392}"/>
              </a:ext>
            </a:extLst>
          </p:cNvPr>
          <p:cNvSpPr txBox="1">
            <a:spLocks/>
          </p:cNvSpPr>
          <p:nvPr/>
        </p:nvSpPr>
        <p:spPr>
          <a:xfrm>
            <a:off x="676002" y="5521960"/>
            <a:ext cx="8596668" cy="555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b="1" dirty="0"/>
              <a:t>Documentation:</a:t>
            </a:r>
            <a:r>
              <a:rPr lang="ro-RO" dirty="0"/>
              <a:t> Comprehensive README, guides</a:t>
            </a:r>
            <a:r>
              <a:rPr lang="en-US" dirty="0"/>
              <a:t>, diagrams, code</a:t>
            </a:r>
            <a:r>
              <a:rPr lang="ro-RO" dirty="0"/>
              <a:t> comments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77141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38210-1BC2-19E1-D1A2-ADDA3DCF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99279-80E4-8FEE-FBB4-0F48914EA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b="1" dirty="0"/>
              <a:t>References</a:t>
            </a:r>
            <a:br>
              <a:rPr lang="en-US" b="1" dirty="0"/>
            </a:br>
            <a:r>
              <a:rPr lang="ro-RO" dirty="0"/>
              <a:t>References &amp; Resources</a:t>
            </a:r>
            <a:endParaRPr lang="ro-R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C8CFD-39C2-099F-2698-DE6C97BF4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03704"/>
            <a:ext cx="8695266" cy="3483864"/>
          </a:xfrm>
        </p:spPr>
        <p:txBody>
          <a:bodyPr>
            <a:normAutofit fontScale="85000" lnSpcReduction="10000"/>
          </a:bodyPr>
          <a:lstStyle/>
          <a:p>
            <a:r>
              <a:rPr lang="ro-RO" b="1" dirty="0"/>
              <a:t>AI Tools Used:</a:t>
            </a:r>
            <a:br>
              <a:rPr lang="ro-RO" dirty="0"/>
            </a:br>
            <a:r>
              <a:rPr lang="ro-RO" dirty="0"/>
              <a:t>[1] GitHub Copilot (Claude Sonnet 4.5), </a:t>
            </a:r>
            <a:r>
              <a:rPr lang="ro-RO" dirty="0">
                <a:hlinkClick r:id="rId2"/>
              </a:rPr>
              <a:t>https://github.com/features/copilot</a:t>
            </a:r>
            <a:r>
              <a:rPr lang="ro-RO" dirty="0"/>
              <a:t>, Date generated: January 2026</a:t>
            </a:r>
          </a:p>
          <a:p>
            <a:r>
              <a:rPr lang="ro-RO" b="1" dirty="0"/>
              <a:t>Frameworks &amp; Libraries:</a:t>
            </a:r>
            <a:br>
              <a:rPr lang="ro-RO" dirty="0"/>
            </a:br>
            <a:r>
              <a:rPr lang="ro-RO" dirty="0"/>
              <a:t>[2] LangChain Documentation, </a:t>
            </a:r>
            <a:r>
              <a:rPr lang="ro-RO" dirty="0">
                <a:hlinkClick r:id="rId3"/>
              </a:rPr>
              <a:t>https://python.langchain.com/, </a:t>
            </a:r>
            <a:r>
              <a:rPr lang="ro-RO" dirty="0"/>
              <a:t>Last accessed: January 2026</a:t>
            </a:r>
            <a:br>
              <a:rPr lang="ro-RO" dirty="0"/>
            </a:br>
            <a:r>
              <a:rPr lang="ro-RO" dirty="0"/>
              <a:t>[3] Ollama, </a:t>
            </a:r>
            <a:r>
              <a:rPr lang="ro-RO" dirty="0">
                <a:hlinkClick r:id="rId4"/>
              </a:rPr>
              <a:t>https://ollama.ai</a:t>
            </a:r>
            <a:r>
              <a:rPr lang="ro-RO" dirty="0"/>
              <a:t>, Last accessed: January 2026</a:t>
            </a:r>
          </a:p>
          <a:p>
            <a:r>
              <a:rPr lang="ro-RO" b="1" dirty="0"/>
              <a:t>Benchmarks:</a:t>
            </a:r>
            <a:br>
              <a:rPr lang="ro-RO" dirty="0"/>
            </a:br>
            <a:r>
              <a:rPr lang="ro-RO" dirty="0"/>
              <a:t>[4] Yu, T., et al., "Spider: A Large-Scale Human-Labeled Dataset for Complex and Cross-Domain Semantic Parsing and Text-to-SQL Task", EMNLP 2018</a:t>
            </a:r>
          </a:p>
          <a:p>
            <a:r>
              <a:rPr lang="ro-RO" b="1" dirty="0"/>
              <a:t>Database:</a:t>
            </a:r>
            <a:br>
              <a:rPr lang="ro-RO" dirty="0"/>
            </a:br>
            <a:r>
              <a:rPr lang="ro-RO" dirty="0"/>
              <a:t>[5] SQLite, </a:t>
            </a:r>
            <a:r>
              <a:rPr lang="ro-RO" dirty="0">
                <a:hlinkClick r:id="rId5"/>
              </a:rPr>
              <a:t>https://www.sqlite.org</a:t>
            </a:r>
            <a:r>
              <a:rPr lang="ro-RO" dirty="0"/>
              <a:t>, Last accessed: January 2026</a:t>
            </a:r>
          </a:p>
          <a:p>
            <a:r>
              <a:rPr lang="ro-RO" b="1" dirty="0"/>
              <a:t>Code Repository:</a:t>
            </a:r>
            <a:br>
              <a:rPr lang="ro-RO" dirty="0"/>
            </a:br>
            <a:r>
              <a:rPr lang="ro-RO" dirty="0"/>
              <a:t>[6] GitHub Repository, </a:t>
            </a:r>
            <a:r>
              <a:rPr lang="ro-RO" dirty="0">
                <a:hlinkClick r:id="rId6"/>
              </a:rPr>
              <a:t>https://github.com/dimaflorinalex/ProiectBDNSV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038687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697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Text-To-SQL App with feedback loop</vt:lpstr>
      <vt:lpstr>Project Overview What is project’s purpose?</vt:lpstr>
      <vt:lpstr>Core Features Meeting project requirements</vt:lpstr>
      <vt:lpstr>System Architecture Multi-step pipeline &amp; Data flow </vt:lpstr>
      <vt:lpstr>System Architecture Correction &amp; Learning activation</vt:lpstr>
      <vt:lpstr>Feedback loop for self-improving How does it work? </vt:lpstr>
      <vt:lpstr>LLM Comparison Multi-Model evaluation</vt:lpstr>
      <vt:lpstr>Benchmark results Spider benchmark performance</vt:lpstr>
      <vt:lpstr>User Interface Dual interface: CLI &amp; Web</vt:lpstr>
      <vt:lpstr>Conclusion Summary &amp; Next steps</vt:lpstr>
      <vt:lpstr>References References &amp;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Florin-Alexandru Dima</dc:creator>
  <cp:lastModifiedBy>Florin-Alexandru Dima</cp:lastModifiedBy>
  <cp:revision>110</cp:revision>
  <dcterms:created xsi:type="dcterms:W3CDTF">2026-01-22T21:36:21Z</dcterms:created>
  <dcterms:modified xsi:type="dcterms:W3CDTF">2026-01-22T22:15:10Z</dcterms:modified>
</cp:coreProperties>
</file>